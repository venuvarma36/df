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9" r:id="rId4"/>
    <p:sldId id="260" r:id="rId5"/>
    <p:sldId id="267" r:id="rId6"/>
    <p:sldId id="268" r:id="rId7"/>
    <p:sldId id="265" r:id="rId8"/>
    <p:sldId id="26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SecureVision – Multimodal DeepFake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Audio + Image Deepfake Detection | Architecture &amp;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F8B5-39CD-4CEC-9861-46B515D6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6D0DC-7C00-A52F-4DA4-CF7C188B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SecureVision</a:t>
            </a:r>
            <a:r>
              <a:rPr lang="en-IN" dirty="0"/>
              <a:t> is a multimodal deepfake detection system for audio and </a:t>
            </a:r>
            <a:r>
              <a:rPr lang="en-IN" dirty="0" err="1"/>
              <a:t>imagesUses</a:t>
            </a:r>
            <a:r>
              <a:rPr lang="en-IN" dirty="0"/>
              <a:t> </a:t>
            </a:r>
            <a:r>
              <a:rPr lang="en-IN" dirty="0" err="1"/>
              <a:t>SpecRNet</a:t>
            </a:r>
            <a:r>
              <a:rPr lang="en-IN" dirty="0"/>
              <a:t>-Lite for audio deepfake </a:t>
            </a:r>
            <a:r>
              <a:rPr lang="en-IN" dirty="0" err="1"/>
              <a:t>detectionUses</a:t>
            </a:r>
            <a:r>
              <a:rPr lang="en-IN" dirty="0"/>
              <a:t> </a:t>
            </a:r>
            <a:r>
              <a:rPr lang="en-IN" dirty="0" err="1"/>
              <a:t>SigLIP</a:t>
            </a:r>
            <a:r>
              <a:rPr lang="en-IN" dirty="0"/>
              <a:t> (Hugging Face) for image deepfake </a:t>
            </a:r>
            <a:r>
              <a:rPr lang="en-IN" dirty="0" err="1"/>
              <a:t>detectionCombines</a:t>
            </a:r>
            <a:r>
              <a:rPr lang="en-IN" dirty="0"/>
              <a:t> both modalities using late score-level </a:t>
            </a:r>
            <a:r>
              <a:rPr lang="en-IN" dirty="0" err="1"/>
              <a:t>fusionSupports</a:t>
            </a:r>
            <a:r>
              <a:rPr lang="en-IN" dirty="0"/>
              <a:t> CLI, Web UI, and batch </a:t>
            </a:r>
            <a:r>
              <a:rPr lang="en-IN" dirty="0" err="1"/>
              <a:t>evaluationDesigned</a:t>
            </a:r>
            <a:r>
              <a:rPr lang="en-IN" dirty="0"/>
              <a:t> to be lightweight, configurable, and deployment-ready</a:t>
            </a:r>
          </a:p>
        </p:txBody>
      </p:sp>
    </p:spTree>
    <p:extLst>
      <p:ext uri="{BB962C8B-B14F-4D97-AF65-F5344CB8AC3E}">
        <p14:creationId xmlns:p14="http://schemas.microsoft.com/office/powerpoint/2010/main" val="344054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  <a:r>
              <a:rPr lang="en-IN" b="1" dirty="0"/>
              <a:t> </a:t>
            </a:r>
            <a:r>
              <a:rPr lang="en-IN" dirty="0"/>
              <a:t>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344D4C-5734-1C37-6344-350C5EF0C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59" y="1509078"/>
            <a:ext cx="4706481" cy="4325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Audio</a:t>
            </a:r>
            <a:r>
              <a:rPr lang="en-IN" dirty="0"/>
              <a:t> &amp; Image</a:t>
            </a:r>
            <a:r>
              <a:rPr dirty="0"/>
              <a:t> Inference Flow</a:t>
            </a:r>
          </a:p>
        </p:txBody>
      </p:sp>
      <p:pic>
        <p:nvPicPr>
          <p:cNvPr id="9" name="Picture 8" descr="AUDIO&#10;">
            <a:extLst>
              <a:ext uri="{FF2B5EF4-FFF2-40B4-BE49-F238E27FC236}">
                <a16:creationId xmlns:a16="http://schemas.microsoft.com/office/drawing/2014/main" id="{42C80D84-BC0A-0AD9-70B1-C2040B38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10" y="1355289"/>
            <a:ext cx="7209692" cy="2234213"/>
          </a:xfrm>
          <a:prstGeom prst="rect">
            <a:avLst/>
          </a:prstGeom>
        </p:spPr>
      </p:pic>
      <p:pic>
        <p:nvPicPr>
          <p:cNvPr id="11" name="Picture 10" descr="IMAGE">
            <a:extLst>
              <a:ext uri="{FF2B5EF4-FFF2-40B4-BE49-F238E27FC236}">
                <a16:creationId xmlns:a16="http://schemas.microsoft.com/office/drawing/2014/main" id="{FB0E5C79-F824-AF28-69E5-9022E4DC0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42" y="3947609"/>
            <a:ext cx="7209692" cy="15551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Audio Model – </a:t>
            </a:r>
            <a:r>
              <a:rPr lang="en-IN" dirty="0" err="1"/>
              <a:t>SpecRNet</a:t>
            </a:r>
            <a:r>
              <a:rPr lang="en-IN" dirty="0"/>
              <a:t>-Lite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• Lightweight audio deepfake detection model (</a:t>
            </a:r>
            <a:r>
              <a:rPr lang="en-IN" dirty="0" err="1"/>
              <a:t>SpecRNet</a:t>
            </a:r>
            <a:r>
              <a:rPr lang="en-IN" dirty="0"/>
              <a:t>-Lite)</a:t>
            </a:r>
          </a:p>
          <a:p>
            <a:r>
              <a:rPr lang="en-IN" dirty="0"/>
              <a:t>• Architecture: 3× Conv + </a:t>
            </a:r>
            <a:r>
              <a:rPr lang="en-IN" dirty="0" err="1"/>
              <a:t>BatchNorm</a:t>
            </a:r>
            <a:r>
              <a:rPr lang="en-IN" dirty="0"/>
              <a:t> + </a:t>
            </a:r>
            <a:r>
              <a:rPr lang="en-IN" dirty="0" err="1"/>
              <a:t>SiLU</a:t>
            </a:r>
            <a:r>
              <a:rPr lang="en-IN" dirty="0"/>
              <a:t> blocks</a:t>
            </a:r>
          </a:p>
          <a:p>
            <a:r>
              <a:rPr lang="en-IN" dirty="0"/>
              <a:t>• Temporal </a:t>
            </a:r>
            <a:r>
              <a:rPr lang="en-IN" dirty="0" err="1"/>
              <a:t>downsampling</a:t>
            </a:r>
            <a:r>
              <a:rPr lang="en-IN" dirty="0"/>
              <a:t> to capture long-range artifacts</a:t>
            </a:r>
          </a:p>
          <a:p>
            <a:r>
              <a:rPr lang="en-IN" dirty="0"/>
              <a:t>• Adaptive Average Pooling followed by bi-directional GRU</a:t>
            </a:r>
          </a:p>
          <a:p>
            <a:r>
              <a:rPr lang="en-IN" dirty="0"/>
              <a:t>• MLP classification head with sigmoid fake probability output</a:t>
            </a:r>
          </a:p>
          <a:p>
            <a:r>
              <a:rPr lang="en-IN" dirty="0"/>
              <a:t>• Supports multi-resolution spectrogram branches (FFT: 256 / 512 / 1024)</a:t>
            </a:r>
          </a:p>
          <a:p>
            <a:endParaRPr lang="en-IN" dirty="0"/>
          </a:p>
          <a:p>
            <a:r>
              <a:rPr lang="en-IN" dirty="0"/>
              <a:t>Speaker Notes:</a:t>
            </a:r>
          </a:p>
          <a:p>
            <a:r>
              <a:rPr lang="en-IN" dirty="0"/>
              <a:t>• CNN channels: [16, 32, 64]</a:t>
            </a:r>
          </a:p>
          <a:p>
            <a:r>
              <a:rPr lang="en-IN" dirty="0"/>
              <a:t>• GRU hidden size: 128</a:t>
            </a:r>
          </a:p>
          <a:p>
            <a:r>
              <a:rPr lang="en-IN" dirty="0"/>
              <a:t>• Dropout: 0.2</a:t>
            </a:r>
          </a:p>
          <a:p>
            <a:r>
              <a:rPr lang="en-IN" dirty="0"/>
              <a:t>• Optimized for low-latency inference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211D-AB05-A490-8AD8-75039E48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C239-AE73-01F4-86B8-12878765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Image Model – </a:t>
            </a:r>
            <a:r>
              <a:rPr lang="en-IN" dirty="0" err="1"/>
              <a:t>SigLIP</a:t>
            </a:r>
            <a:r>
              <a:rPr lang="en-IN" dirty="0"/>
              <a:t> (Hugging Face)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B71C5-E87D-2994-AC88-00B988CDB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• Image deepfake detection using </a:t>
            </a:r>
            <a:r>
              <a:rPr lang="en-IN" dirty="0" err="1"/>
              <a:t>SigLIP</a:t>
            </a:r>
            <a:r>
              <a:rPr lang="en-IN" dirty="0"/>
              <a:t> classifier</a:t>
            </a:r>
          </a:p>
          <a:p>
            <a:r>
              <a:rPr lang="en-IN" dirty="0"/>
              <a:t>• Input preprocessing via </a:t>
            </a:r>
            <a:r>
              <a:rPr lang="en-IN" dirty="0" err="1"/>
              <a:t>AutoImageProcessor</a:t>
            </a:r>
            <a:endParaRPr lang="en-IN" dirty="0"/>
          </a:p>
          <a:p>
            <a:r>
              <a:rPr lang="en-IN" dirty="0"/>
              <a:t>• Model: </a:t>
            </a:r>
            <a:r>
              <a:rPr lang="en-IN" dirty="0" err="1"/>
              <a:t>SiglipForImageClassification</a:t>
            </a:r>
            <a:r>
              <a:rPr lang="en-IN" dirty="0"/>
              <a:t> (Hugging Face)</a:t>
            </a:r>
          </a:p>
          <a:p>
            <a:r>
              <a:rPr lang="en-IN" dirty="0"/>
              <a:t>• Outputs logits for 2 classes (REAL / FAKE)</a:t>
            </a:r>
          </a:p>
          <a:p>
            <a:r>
              <a:rPr lang="en-IN" dirty="0"/>
              <a:t>• </a:t>
            </a:r>
            <a:r>
              <a:rPr lang="en-IN" dirty="0" err="1"/>
              <a:t>Softmax</a:t>
            </a:r>
            <a:r>
              <a:rPr lang="en-IN" dirty="0"/>
              <a:t> applied with optional temperature scaling</a:t>
            </a:r>
          </a:p>
          <a:p>
            <a:r>
              <a:rPr lang="en-IN" dirty="0"/>
              <a:t>• Class index 1 corresponds to FAKE</a:t>
            </a:r>
          </a:p>
          <a:p>
            <a:r>
              <a:rPr lang="en-IN" dirty="0"/>
              <a:t>• Default decision threshold: 0.30</a:t>
            </a:r>
          </a:p>
          <a:p>
            <a:endParaRPr lang="en-IN" dirty="0"/>
          </a:p>
          <a:p>
            <a:r>
              <a:rPr lang="en-IN" dirty="0"/>
              <a:t>Speaker Notes:</a:t>
            </a:r>
          </a:p>
          <a:p>
            <a:r>
              <a:rPr lang="en-IN" dirty="0"/>
              <a:t>• Model cached locally under checkpoints/</a:t>
            </a:r>
            <a:r>
              <a:rPr lang="en-IN" dirty="0" err="1"/>
              <a:t>pretrained_hf</a:t>
            </a:r>
            <a:r>
              <a:rPr lang="en-IN" dirty="0"/>
              <a:t>/</a:t>
            </a:r>
          </a:p>
          <a:p>
            <a:r>
              <a:rPr lang="en-IN" dirty="0"/>
              <a:t>• Temperature scaling improves probability calibration</a:t>
            </a:r>
          </a:p>
          <a:p>
            <a:r>
              <a:rPr lang="en-IN" dirty="0"/>
              <a:t>• </a:t>
            </a:r>
            <a:r>
              <a:rPr lang="en-IN" dirty="0" err="1"/>
              <a:t>timm</a:t>
            </a:r>
            <a:r>
              <a:rPr lang="en-IN" dirty="0"/>
              <a:t> CNNs used as fallback when HF is unavailable</a:t>
            </a:r>
          </a:p>
        </p:txBody>
      </p:sp>
    </p:spTree>
    <p:extLst>
      <p:ext uri="{BB962C8B-B14F-4D97-AF65-F5344CB8AC3E}">
        <p14:creationId xmlns:p14="http://schemas.microsoft.com/office/powerpoint/2010/main" val="295651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Evaluation &amp; Metrics</a:t>
            </a:r>
            <a:r>
              <a:rPr lang="en-IN" dirty="0"/>
              <a:t> Pipeline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5BEEF5-F145-3A8C-AB25-5BA50AE6C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379" y="1600200"/>
            <a:ext cx="5265241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Web App: </a:t>
            </a:r>
            <a:r>
              <a:rPr lang="en-IN" dirty="0"/>
              <a:t>python web/app.py</a:t>
            </a:r>
            <a:r>
              <a:rPr dirty="0"/>
              <a:t> → http://localhost:8000</a:t>
            </a:r>
          </a:p>
          <a:p>
            <a:r>
              <a:rPr dirty="0"/>
              <a:t>CLI Audio: python detect.py --audio file.wav</a:t>
            </a:r>
          </a:p>
          <a:p>
            <a:r>
              <a:rPr dirty="0"/>
              <a:t>CLI Image: python detect.py --image file.jpg</a:t>
            </a:r>
          </a:p>
          <a:p>
            <a:r>
              <a:rPr dirty="0"/>
              <a:t>Multimodal: python detect.py --audio ... --image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 accuracy: 94–96%, EER: 4–6%</a:t>
            </a:r>
          </a:p>
          <a:p>
            <a:r>
              <a:t>Image accuracy: 91–93%, EER: 7–9%</a:t>
            </a:r>
          </a:p>
          <a:p>
            <a:r>
              <a:t>Thresholds configurable via 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331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SecureVision – Multimodal DeepFake Detection</vt:lpstr>
      <vt:lpstr>Overview</vt:lpstr>
      <vt:lpstr>Architecture Diagram</vt:lpstr>
      <vt:lpstr>Audio &amp; Image Inference Flow</vt:lpstr>
      <vt:lpstr>Audio Model – SpecRNet-Lite</vt:lpstr>
      <vt:lpstr>Image Model – SigLIP (Hugging Face)</vt:lpstr>
      <vt:lpstr>Evaluation &amp; Metrics Pipeline</vt:lpstr>
      <vt:lpstr>How to Run</vt:lpstr>
      <vt:lpstr>Reported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Venu varma</dc:creator>
  <cp:keywords/>
  <dc:description>generated using python-pptx</dc:description>
  <cp:lastModifiedBy>Venu varma</cp:lastModifiedBy>
  <cp:revision>2</cp:revision>
  <dcterms:created xsi:type="dcterms:W3CDTF">2013-01-27T09:14:16Z</dcterms:created>
  <dcterms:modified xsi:type="dcterms:W3CDTF">2026-01-28T09:53:21Z</dcterms:modified>
  <cp:category/>
</cp:coreProperties>
</file>